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94" r:id="rId7"/>
    <p:sldId id="269" r:id="rId8"/>
    <p:sldId id="290" r:id="rId9"/>
    <p:sldId id="291" r:id="rId10"/>
    <p:sldId id="292" r:id="rId11"/>
    <p:sldId id="293" r:id="rId12"/>
    <p:sldId id="295" r:id="rId13"/>
    <p:sldId id="296" r:id="rId14"/>
    <p:sldId id="297" r:id="rId15"/>
    <p:sldId id="298" r:id="rId16"/>
    <p:sldId id="299" r:id="rId17"/>
    <p:sldId id="301" r:id="rId18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Svetlý štýl 3 - zvýrazneni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Svetlý štýl 1 - zvýrazneni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redný štýl 2 - zvýrazneni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83"/>
    <p:restoredTop sz="94671"/>
  </p:normalViewPr>
  <p:slideViewPr>
    <p:cSldViewPr snapToGrid="0" snapToObjects="1">
      <p:cViewPr varScale="1">
        <p:scale>
          <a:sx n="104" d="100"/>
          <a:sy n="104" d="100"/>
        </p:scale>
        <p:origin x="2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937C5-8EFB-4C87-9957-72685873836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DC83B1-B499-4F39-90A7-5D2C52C3D677}">
      <dgm:prSet custT="1"/>
      <dgm:spPr/>
      <dgm:t>
        <a:bodyPr/>
        <a:lstStyle/>
        <a:p>
          <a:r>
            <a:rPr lang="sk-SK" sz="2400" dirty="0"/>
            <a:t>Spracovanie a analýza dát získaných z Department of </a:t>
          </a:r>
          <a:r>
            <a:rPr lang="sk-SK" sz="2400" dirty="0" err="1"/>
            <a:t>Physiotherapy</a:t>
          </a:r>
          <a:r>
            <a:rPr lang="sk-SK" sz="2400" dirty="0"/>
            <a:t>, </a:t>
          </a:r>
          <a:r>
            <a:rPr lang="sk-SK" sz="2400" dirty="0" err="1"/>
            <a:t>Universitat</a:t>
          </a:r>
          <a:r>
            <a:rPr lang="sk-SK" sz="2400" dirty="0"/>
            <a:t> de </a:t>
          </a:r>
          <a:r>
            <a:rPr lang="sk-SK" sz="2400" dirty="0" err="1"/>
            <a:t>València</a:t>
          </a:r>
          <a:r>
            <a:rPr lang="sk-SK" sz="2400" dirty="0"/>
            <a:t> (Španielsko)</a:t>
          </a:r>
          <a:endParaRPr lang="en-US" sz="2400" dirty="0"/>
        </a:p>
      </dgm:t>
    </dgm:pt>
    <dgm:pt modelId="{04F35E36-F0A2-47B3-91D3-EB5EF6AFF0A0}" type="parTrans" cxnId="{903EEA1F-751C-4C35-9919-BA84927E2BA1}">
      <dgm:prSet/>
      <dgm:spPr/>
      <dgm:t>
        <a:bodyPr/>
        <a:lstStyle/>
        <a:p>
          <a:endParaRPr lang="en-US"/>
        </a:p>
      </dgm:t>
    </dgm:pt>
    <dgm:pt modelId="{CAEFEE1F-2148-4126-9FB3-16CE80EBFE95}" type="sibTrans" cxnId="{903EEA1F-751C-4C35-9919-BA84927E2BA1}">
      <dgm:prSet/>
      <dgm:spPr/>
      <dgm:t>
        <a:bodyPr/>
        <a:lstStyle/>
        <a:p>
          <a:endParaRPr lang="en-US"/>
        </a:p>
      </dgm:t>
    </dgm:pt>
    <dgm:pt modelId="{F620C55A-F4CA-4384-B893-6A2E16FCE8F7}">
      <dgm:prSet custT="1"/>
      <dgm:spPr/>
      <dgm:t>
        <a:bodyPr/>
        <a:lstStyle/>
        <a:p>
          <a:r>
            <a:rPr lang="sk-SK" sz="2400" dirty="0"/>
            <a:t>Tvorba rozhodovacieho stromu pre klasifikáciu spánku a fyzickej aktivity</a:t>
          </a:r>
          <a:endParaRPr lang="en-US" sz="2400" dirty="0"/>
        </a:p>
      </dgm:t>
    </dgm:pt>
    <dgm:pt modelId="{C9A146E0-6BFE-47EE-9635-2B79233E5574}" type="parTrans" cxnId="{991F6FCF-82F4-447E-8236-9FB54867A207}">
      <dgm:prSet/>
      <dgm:spPr/>
      <dgm:t>
        <a:bodyPr/>
        <a:lstStyle/>
        <a:p>
          <a:endParaRPr lang="en-US"/>
        </a:p>
      </dgm:t>
    </dgm:pt>
    <dgm:pt modelId="{E6C08E8A-FA20-4257-B06D-E8F401E0E3D1}" type="sibTrans" cxnId="{991F6FCF-82F4-447E-8236-9FB54867A207}">
      <dgm:prSet/>
      <dgm:spPr/>
      <dgm:t>
        <a:bodyPr/>
        <a:lstStyle/>
        <a:p>
          <a:endParaRPr lang="en-US"/>
        </a:p>
      </dgm:t>
    </dgm:pt>
    <dgm:pt modelId="{4EC7E5B7-4ABB-4732-952A-3821A3641FA1}">
      <dgm:prSet custT="1"/>
      <dgm:spPr/>
      <dgm:t>
        <a:bodyPr/>
        <a:lstStyle/>
        <a:p>
          <a:r>
            <a:rPr lang="sk-SK" sz="2400" dirty="0"/>
            <a:t>Identifikácia vzťahov na základe asociačných pravidiel</a:t>
          </a:r>
          <a:endParaRPr lang="en-US" sz="2400" dirty="0"/>
        </a:p>
      </dgm:t>
    </dgm:pt>
    <dgm:pt modelId="{4708C3F2-F19E-41B7-A24B-B319AE161228}" type="parTrans" cxnId="{C29F4803-A38D-4E84-9AE7-4FED35263CBE}">
      <dgm:prSet/>
      <dgm:spPr/>
      <dgm:t>
        <a:bodyPr/>
        <a:lstStyle/>
        <a:p>
          <a:endParaRPr lang="en-US"/>
        </a:p>
      </dgm:t>
    </dgm:pt>
    <dgm:pt modelId="{2E9368DE-CE4B-4D9D-BFD3-88061F484F0E}" type="sibTrans" cxnId="{C29F4803-A38D-4E84-9AE7-4FED35263CBE}">
      <dgm:prSet/>
      <dgm:spPr/>
      <dgm:t>
        <a:bodyPr/>
        <a:lstStyle/>
        <a:p>
          <a:endParaRPr lang="en-US"/>
        </a:p>
      </dgm:t>
    </dgm:pt>
    <dgm:pt modelId="{0450EFA5-A54F-4216-B16B-0D0CE77C9E49}">
      <dgm:prSet custT="1"/>
      <dgm:spPr/>
      <dgm:t>
        <a:bodyPr/>
        <a:lstStyle/>
        <a:p>
          <a:r>
            <a:rPr lang="sk-SK" sz="2400" dirty="0"/>
            <a:t>Návrh softvérovej aplikácie spolu s prezentáciou výsledkov</a:t>
          </a:r>
          <a:endParaRPr lang="en-US" sz="2400" dirty="0"/>
        </a:p>
      </dgm:t>
    </dgm:pt>
    <dgm:pt modelId="{71475307-89AE-4B01-AC6F-8B91F303AE52}" type="parTrans" cxnId="{E91AC69B-7B0D-4A75-93DB-2FD421EE4DEC}">
      <dgm:prSet/>
      <dgm:spPr/>
      <dgm:t>
        <a:bodyPr/>
        <a:lstStyle/>
        <a:p>
          <a:endParaRPr lang="en-US"/>
        </a:p>
      </dgm:t>
    </dgm:pt>
    <dgm:pt modelId="{CEB545EE-594F-4B37-B13C-DDD96979BC93}" type="sibTrans" cxnId="{E91AC69B-7B0D-4A75-93DB-2FD421EE4DEC}">
      <dgm:prSet/>
      <dgm:spPr/>
      <dgm:t>
        <a:bodyPr/>
        <a:lstStyle/>
        <a:p>
          <a:endParaRPr lang="en-US"/>
        </a:p>
      </dgm:t>
    </dgm:pt>
    <dgm:pt modelId="{7B4C601A-1D42-1B4E-8650-34319D29977B}" type="pres">
      <dgm:prSet presAssocID="{22D937C5-8EFB-4C87-9957-726858738361}" presName="vert0" presStyleCnt="0">
        <dgm:presLayoutVars>
          <dgm:dir/>
          <dgm:animOne val="branch"/>
          <dgm:animLvl val="lvl"/>
        </dgm:presLayoutVars>
      </dgm:prSet>
      <dgm:spPr/>
    </dgm:pt>
    <dgm:pt modelId="{8F2C1065-15E3-E94D-A3A5-F67029DA9B72}" type="pres">
      <dgm:prSet presAssocID="{75DC83B1-B499-4F39-90A7-5D2C52C3D677}" presName="thickLine" presStyleLbl="alignNode1" presStyleIdx="0" presStyleCnt="4"/>
      <dgm:spPr/>
    </dgm:pt>
    <dgm:pt modelId="{7E758C65-B6B1-5049-AFE1-3E8A9A48AD98}" type="pres">
      <dgm:prSet presAssocID="{75DC83B1-B499-4F39-90A7-5D2C52C3D677}" presName="horz1" presStyleCnt="0"/>
      <dgm:spPr/>
    </dgm:pt>
    <dgm:pt modelId="{7D6EEFEB-BEEA-F149-96FD-93663620D47A}" type="pres">
      <dgm:prSet presAssocID="{75DC83B1-B499-4F39-90A7-5D2C52C3D677}" presName="tx1" presStyleLbl="revTx" presStyleIdx="0" presStyleCnt="4" custScaleY="48500"/>
      <dgm:spPr/>
    </dgm:pt>
    <dgm:pt modelId="{B98C3CEA-450C-D447-825D-AAF57D7BDF54}" type="pres">
      <dgm:prSet presAssocID="{75DC83B1-B499-4F39-90A7-5D2C52C3D677}" presName="vert1" presStyleCnt="0"/>
      <dgm:spPr/>
    </dgm:pt>
    <dgm:pt modelId="{C289B401-8895-EF47-A543-3416A43D8830}" type="pres">
      <dgm:prSet presAssocID="{F620C55A-F4CA-4384-B893-6A2E16FCE8F7}" presName="thickLine" presStyleLbl="alignNode1" presStyleIdx="1" presStyleCnt="4"/>
      <dgm:spPr/>
    </dgm:pt>
    <dgm:pt modelId="{1C56A45F-1AE4-B047-ABE2-49233AF2968C}" type="pres">
      <dgm:prSet presAssocID="{F620C55A-F4CA-4384-B893-6A2E16FCE8F7}" presName="horz1" presStyleCnt="0"/>
      <dgm:spPr/>
    </dgm:pt>
    <dgm:pt modelId="{22037FEE-2358-C045-A10F-4AD01882B74F}" type="pres">
      <dgm:prSet presAssocID="{F620C55A-F4CA-4384-B893-6A2E16FCE8F7}" presName="tx1" presStyleLbl="revTx" presStyleIdx="1" presStyleCnt="4" custScaleY="47875"/>
      <dgm:spPr/>
    </dgm:pt>
    <dgm:pt modelId="{0F3F0720-73C3-9341-AF66-B7CAE1CA627A}" type="pres">
      <dgm:prSet presAssocID="{F620C55A-F4CA-4384-B893-6A2E16FCE8F7}" presName="vert1" presStyleCnt="0"/>
      <dgm:spPr/>
    </dgm:pt>
    <dgm:pt modelId="{6B3568E5-8886-B44D-AC95-D1055264CC7C}" type="pres">
      <dgm:prSet presAssocID="{4EC7E5B7-4ABB-4732-952A-3821A3641FA1}" presName="thickLine" presStyleLbl="alignNode1" presStyleIdx="2" presStyleCnt="4"/>
      <dgm:spPr/>
    </dgm:pt>
    <dgm:pt modelId="{18864578-606D-6B42-9E44-E6BB277B5CDE}" type="pres">
      <dgm:prSet presAssocID="{4EC7E5B7-4ABB-4732-952A-3821A3641FA1}" presName="horz1" presStyleCnt="0"/>
      <dgm:spPr/>
    </dgm:pt>
    <dgm:pt modelId="{60389F74-0769-7742-9549-43FAC5C04698}" type="pres">
      <dgm:prSet presAssocID="{4EC7E5B7-4ABB-4732-952A-3821A3641FA1}" presName="tx1" presStyleLbl="revTx" presStyleIdx="2" presStyleCnt="4" custScaleY="38907"/>
      <dgm:spPr/>
    </dgm:pt>
    <dgm:pt modelId="{4D774771-A1A2-744B-B895-66553D969C40}" type="pres">
      <dgm:prSet presAssocID="{4EC7E5B7-4ABB-4732-952A-3821A3641FA1}" presName="vert1" presStyleCnt="0"/>
      <dgm:spPr/>
    </dgm:pt>
    <dgm:pt modelId="{F61854FA-2B1C-C74E-AF4B-F682748E38D7}" type="pres">
      <dgm:prSet presAssocID="{0450EFA5-A54F-4216-B16B-0D0CE77C9E49}" presName="thickLine" presStyleLbl="alignNode1" presStyleIdx="3" presStyleCnt="4"/>
      <dgm:spPr/>
    </dgm:pt>
    <dgm:pt modelId="{B626D921-5DD6-D04A-834D-68F4183C8EAF}" type="pres">
      <dgm:prSet presAssocID="{0450EFA5-A54F-4216-B16B-0D0CE77C9E49}" presName="horz1" presStyleCnt="0"/>
      <dgm:spPr/>
    </dgm:pt>
    <dgm:pt modelId="{C11BD6FA-5868-E64F-A177-54A5ACAEF25C}" type="pres">
      <dgm:prSet presAssocID="{0450EFA5-A54F-4216-B16B-0D0CE77C9E49}" presName="tx1" presStyleLbl="revTx" presStyleIdx="3" presStyleCnt="4" custScaleY="57735"/>
      <dgm:spPr/>
    </dgm:pt>
    <dgm:pt modelId="{B2BD5279-EF00-F74A-B13D-AFF4FA96C7AF}" type="pres">
      <dgm:prSet presAssocID="{0450EFA5-A54F-4216-B16B-0D0CE77C9E49}" presName="vert1" presStyleCnt="0"/>
      <dgm:spPr/>
    </dgm:pt>
  </dgm:ptLst>
  <dgm:cxnLst>
    <dgm:cxn modelId="{C29F4803-A38D-4E84-9AE7-4FED35263CBE}" srcId="{22D937C5-8EFB-4C87-9957-726858738361}" destId="{4EC7E5B7-4ABB-4732-952A-3821A3641FA1}" srcOrd="2" destOrd="0" parTransId="{4708C3F2-F19E-41B7-A24B-B319AE161228}" sibTransId="{2E9368DE-CE4B-4D9D-BFD3-88061F484F0E}"/>
    <dgm:cxn modelId="{C9B2ED1C-AB1B-434A-961F-902140E12F86}" type="presOf" srcId="{75DC83B1-B499-4F39-90A7-5D2C52C3D677}" destId="{7D6EEFEB-BEEA-F149-96FD-93663620D47A}" srcOrd="0" destOrd="0" presId="urn:microsoft.com/office/officeart/2008/layout/LinedList"/>
    <dgm:cxn modelId="{903EEA1F-751C-4C35-9919-BA84927E2BA1}" srcId="{22D937C5-8EFB-4C87-9957-726858738361}" destId="{75DC83B1-B499-4F39-90A7-5D2C52C3D677}" srcOrd="0" destOrd="0" parTransId="{04F35E36-F0A2-47B3-91D3-EB5EF6AFF0A0}" sibTransId="{CAEFEE1F-2148-4126-9FB3-16CE80EBFE95}"/>
    <dgm:cxn modelId="{61585095-2B4B-C441-B6EC-E1CF3D2A50E5}" type="presOf" srcId="{F620C55A-F4CA-4384-B893-6A2E16FCE8F7}" destId="{22037FEE-2358-C045-A10F-4AD01882B74F}" srcOrd="0" destOrd="0" presId="urn:microsoft.com/office/officeart/2008/layout/LinedList"/>
    <dgm:cxn modelId="{E91AC69B-7B0D-4A75-93DB-2FD421EE4DEC}" srcId="{22D937C5-8EFB-4C87-9957-726858738361}" destId="{0450EFA5-A54F-4216-B16B-0D0CE77C9E49}" srcOrd="3" destOrd="0" parTransId="{71475307-89AE-4B01-AC6F-8B91F303AE52}" sibTransId="{CEB545EE-594F-4B37-B13C-DDD96979BC93}"/>
    <dgm:cxn modelId="{9BF240A0-567C-C049-8E24-66DBDED321A9}" type="presOf" srcId="{22D937C5-8EFB-4C87-9957-726858738361}" destId="{7B4C601A-1D42-1B4E-8650-34319D29977B}" srcOrd="0" destOrd="0" presId="urn:microsoft.com/office/officeart/2008/layout/LinedList"/>
    <dgm:cxn modelId="{F9B8C8C9-73B9-284D-B359-D406B8DDFC9E}" type="presOf" srcId="{4EC7E5B7-4ABB-4732-952A-3821A3641FA1}" destId="{60389F74-0769-7742-9549-43FAC5C04698}" srcOrd="0" destOrd="0" presId="urn:microsoft.com/office/officeart/2008/layout/LinedList"/>
    <dgm:cxn modelId="{991F6FCF-82F4-447E-8236-9FB54867A207}" srcId="{22D937C5-8EFB-4C87-9957-726858738361}" destId="{F620C55A-F4CA-4384-B893-6A2E16FCE8F7}" srcOrd="1" destOrd="0" parTransId="{C9A146E0-6BFE-47EE-9635-2B79233E5574}" sibTransId="{E6C08E8A-FA20-4257-B06D-E8F401E0E3D1}"/>
    <dgm:cxn modelId="{CE856BD7-959E-0342-BD7F-F8DE48DEB824}" type="presOf" srcId="{0450EFA5-A54F-4216-B16B-0D0CE77C9E49}" destId="{C11BD6FA-5868-E64F-A177-54A5ACAEF25C}" srcOrd="0" destOrd="0" presId="urn:microsoft.com/office/officeart/2008/layout/LinedList"/>
    <dgm:cxn modelId="{E3A7C28E-8E9E-CA47-A90B-883D9BF8B666}" type="presParOf" srcId="{7B4C601A-1D42-1B4E-8650-34319D29977B}" destId="{8F2C1065-15E3-E94D-A3A5-F67029DA9B72}" srcOrd="0" destOrd="0" presId="urn:microsoft.com/office/officeart/2008/layout/LinedList"/>
    <dgm:cxn modelId="{4863B5DC-2D3D-9C4D-8CCF-872C89E639FF}" type="presParOf" srcId="{7B4C601A-1D42-1B4E-8650-34319D29977B}" destId="{7E758C65-B6B1-5049-AFE1-3E8A9A48AD98}" srcOrd="1" destOrd="0" presId="urn:microsoft.com/office/officeart/2008/layout/LinedList"/>
    <dgm:cxn modelId="{13297495-7F5B-7E49-A2CF-1C47C5523D35}" type="presParOf" srcId="{7E758C65-B6B1-5049-AFE1-3E8A9A48AD98}" destId="{7D6EEFEB-BEEA-F149-96FD-93663620D47A}" srcOrd="0" destOrd="0" presId="urn:microsoft.com/office/officeart/2008/layout/LinedList"/>
    <dgm:cxn modelId="{E6D672C0-570E-E449-8F78-22C6C14B57E9}" type="presParOf" srcId="{7E758C65-B6B1-5049-AFE1-3E8A9A48AD98}" destId="{B98C3CEA-450C-D447-825D-AAF57D7BDF54}" srcOrd="1" destOrd="0" presId="urn:microsoft.com/office/officeart/2008/layout/LinedList"/>
    <dgm:cxn modelId="{9CF3D5D8-189E-3F4A-AEDC-96BC508B5E6F}" type="presParOf" srcId="{7B4C601A-1D42-1B4E-8650-34319D29977B}" destId="{C289B401-8895-EF47-A543-3416A43D8830}" srcOrd="2" destOrd="0" presId="urn:microsoft.com/office/officeart/2008/layout/LinedList"/>
    <dgm:cxn modelId="{EB6B9206-FC5A-0748-BABF-9DB753D90E08}" type="presParOf" srcId="{7B4C601A-1D42-1B4E-8650-34319D29977B}" destId="{1C56A45F-1AE4-B047-ABE2-49233AF2968C}" srcOrd="3" destOrd="0" presId="urn:microsoft.com/office/officeart/2008/layout/LinedList"/>
    <dgm:cxn modelId="{E5149E1F-0843-9B42-B072-89ABFF32D26F}" type="presParOf" srcId="{1C56A45F-1AE4-B047-ABE2-49233AF2968C}" destId="{22037FEE-2358-C045-A10F-4AD01882B74F}" srcOrd="0" destOrd="0" presId="urn:microsoft.com/office/officeart/2008/layout/LinedList"/>
    <dgm:cxn modelId="{7922A89B-A8D4-3D41-80F3-F7DE29D08684}" type="presParOf" srcId="{1C56A45F-1AE4-B047-ABE2-49233AF2968C}" destId="{0F3F0720-73C3-9341-AF66-B7CAE1CA627A}" srcOrd="1" destOrd="0" presId="urn:microsoft.com/office/officeart/2008/layout/LinedList"/>
    <dgm:cxn modelId="{2FE1BB40-B48B-8748-8C36-4BDD023B7C9D}" type="presParOf" srcId="{7B4C601A-1D42-1B4E-8650-34319D29977B}" destId="{6B3568E5-8886-B44D-AC95-D1055264CC7C}" srcOrd="4" destOrd="0" presId="urn:microsoft.com/office/officeart/2008/layout/LinedList"/>
    <dgm:cxn modelId="{9ECE645E-7144-864E-B6CA-72C878051758}" type="presParOf" srcId="{7B4C601A-1D42-1B4E-8650-34319D29977B}" destId="{18864578-606D-6B42-9E44-E6BB277B5CDE}" srcOrd="5" destOrd="0" presId="urn:microsoft.com/office/officeart/2008/layout/LinedList"/>
    <dgm:cxn modelId="{D1F7A583-F7A8-C44F-8D58-7C40C669F06D}" type="presParOf" srcId="{18864578-606D-6B42-9E44-E6BB277B5CDE}" destId="{60389F74-0769-7742-9549-43FAC5C04698}" srcOrd="0" destOrd="0" presId="urn:microsoft.com/office/officeart/2008/layout/LinedList"/>
    <dgm:cxn modelId="{9A5364E9-8F47-5F44-820F-7C814C8094D8}" type="presParOf" srcId="{18864578-606D-6B42-9E44-E6BB277B5CDE}" destId="{4D774771-A1A2-744B-B895-66553D969C40}" srcOrd="1" destOrd="0" presId="urn:microsoft.com/office/officeart/2008/layout/LinedList"/>
    <dgm:cxn modelId="{B93C5A03-1A97-D743-950A-8D537B1CF9FC}" type="presParOf" srcId="{7B4C601A-1D42-1B4E-8650-34319D29977B}" destId="{F61854FA-2B1C-C74E-AF4B-F682748E38D7}" srcOrd="6" destOrd="0" presId="urn:microsoft.com/office/officeart/2008/layout/LinedList"/>
    <dgm:cxn modelId="{35FC96D3-8420-B749-8936-D95EC418A1B4}" type="presParOf" srcId="{7B4C601A-1D42-1B4E-8650-34319D29977B}" destId="{B626D921-5DD6-D04A-834D-68F4183C8EAF}" srcOrd="7" destOrd="0" presId="urn:microsoft.com/office/officeart/2008/layout/LinedList"/>
    <dgm:cxn modelId="{D715B00F-D0B0-9A4E-B092-9CEE1E6F1C86}" type="presParOf" srcId="{B626D921-5DD6-D04A-834D-68F4183C8EAF}" destId="{C11BD6FA-5868-E64F-A177-54A5ACAEF25C}" srcOrd="0" destOrd="0" presId="urn:microsoft.com/office/officeart/2008/layout/LinedList"/>
    <dgm:cxn modelId="{21C4F7A7-6588-094C-A80B-6E718E71EAE2}" type="presParOf" srcId="{B626D921-5DD6-D04A-834D-68F4183C8EAF}" destId="{B2BD5279-EF00-F74A-B13D-AFF4FA96C7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C1065-15E3-E94D-A3A5-F67029DA9B72}">
      <dsp:nvSpPr>
        <dsp:cNvPr id="0" name=""/>
        <dsp:cNvSpPr/>
      </dsp:nvSpPr>
      <dsp:spPr>
        <a:xfrm>
          <a:off x="0" y="1959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EEFEB-BEEA-F149-96FD-93663620D47A}">
      <dsp:nvSpPr>
        <dsp:cNvPr id="0" name=""/>
        <dsp:cNvSpPr/>
      </dsp:nvSpPr>
      <dsp:spPr>
        <a:xfrm>
          <a:off x="0" y="1959"/>
          <a:ext cx="6900512" cy="997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400" kern="1200" dirty="0"/>
            <a:t>Spracovanie a analýza dát získaných z Department of </a:t>
          </a:r>
          <a:r>
            <a:rPr lang="sk-SK" sz="2400" kern="1200" dirty="0" err="1"/>
            <a:t>Physiotherapy</a:t>
          </a:r>
          <a:r>
            <a:rPr lang="sk-SK" sz="2400" kern="1200" dirty="0"/>
            <a:t>, </a:t>
          </a:r>
          <a:r>
            <a:rPr lang="sk-SK" sz="2400" kern="1200" dirty="0" err="1"/>
            <a:t>Universitat</a:t>
          </a:r>
          <a:r>
            <a:rPr lang="sk-SK" sz="2400" kern="1200" dirty="0"/>
            <a:t> de </a:t>
          </a:r>
          <a:r>
            <a:rPr lang="sk-SK" sz="2400" kern="1200" dirty="0" err="1"/>
            <a:t>València</a:t>
          </a:r>
          <a:r>
            <a:rPr lang="sk-SK" sz="2400" kern="1200" dirty="0"/>
            <a:t> (Španielsko)</a:t>
          </a:r>
          <a:endParaRPr lang="en-US" sz="2400" kern="1200" dirty="0"/>
        </a:p>
      </dsp:txBody>
      <dsp:txXfrm>
        <a:off x="0" y="1959"/>
        <a:ext cx="6900512" cy="997464"/>
      </dsp:txXfrm>
    </dsp:sp>
    <dsp:sp modelId="{C289B401-8895-EF47-A543-3416A43D8830}">
      <dsp:nvSpPr>
        <dsp:cNvPr id="0" name=""/>
        <dsp:cNvSpPr/>
      </dsp:nvSpPr>
      <dsp:spPr>
        <a:xfrm>
          <a:off x="0" y="999424"/>
          <a:ext cx="6900512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37FEE-2358-C045-A10F-4AD01882B74F}">
      <dsp:nvSpPr>
        <dsp:cNvPr id="0" name=""/>
        <dsp:cNvSpPr/>
      </dsp:nvSpPr>
      <dsp:spPr>
        <a:xfrm>
          <a:off x="0" y="999424"/>
          <a:ext cx="6900512" cy="98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400" kern="1200" dirty="0"/>
            <a:t>Tvorba rozhodovacieho stromu pre klasifikáciu spánku a fyzickej aktivity</a:t>
          </a:r>
          <a:endParaRPr lang="en-US" sz="2400" kern="1200" dirty="0"/>
        </a:p>
      </dsp:txBody>
      <dsp:txXfrm>
        <a:off x="0" y="999424"/>
        <a:ext cx="6900512" cy="984611"/>
      </dsp:txXfrm>
    </dsp:sp>
    <dsp:sp modelId="{6B3568E5-8886-B44D-AC95-D1055264CC7C}">
      <dsp:nvSpPr>
        <dsp:cNvPr id="0" name=""/>
        <dsp:cNvSpPr/>
      </dsp:nvSpPr>
      <dsp:spPr>
        <a:xfrm>
          <a:off x="0" y="1984035"/>
          <a:ext cx="6900512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89F74-0769-7742-9549-43FAC5C04698}">
      <dsp:nvSpPr>
        <dsp:cNvPr id="0" name=""/>
        <dsp:cNvSpPr/>
      </dsp:nvSpPr>
      <dsp:spPr>
        <a:xfrm>
          <a:off x="0" y="1984035"/>
          <a:ext cx="6900512" cy="800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400" kern="1200" dirty="0"/>
            <a:t>Identifikácia vzťahov na základe asociačných pravidiel</a:t>
          </a:r>
          <a:endParaRPr lang="en-US" sz="2400" kern="1200" dirty="0"/>
        </a:p>
      </dsp:txBody>
      <dsp:txXfrm>
        <a:off x="0" y="1984035"/>
        <a:ext cx="6900512" cy="800172"/>
      </dsp:txXfrm>
    </dsp:sp>
    <dsp:sp modelId="{F61854FA-2B1C-C74E-AF4B-F682748E38D7}">
      <dsp:nvSpPr>
        <dsp:cNvPr id="0" name=""/>
        <dsp:cNvSpPr/>
      </dsp:nvSpPr>
      <dsp:spPr>
        <a:xfrm>
          <a:off x="0" y="2784207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BD6FA-5868-E64F-A177-54A5ACAEF25C}">
      <dsp:nvSpPr>
        <dsp:cNvPr id="0" name=""/>
        <dsp:cNvSpPr/>
      </dsp:nvSpPr>
      <dsp:spPr>
        <a:xfrm>
          <a:off x="0" y="2784207"/>
          <a:ext cx="6900512" cy="1187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400" kern="1200" dirty="0"/>
            <a:t>Návrh softvérovej aplikácie spolu s prezentáciou výsledkov</a:t>
          </a:r>
          <a:endParaRPr lang="en-US" sz="2400" kern="1200" dirty="0"/>
        </a:p>
      </dsp:txBody>
      <dsp:txXfrm>
        <a:off x="0" y="2784207"/>
        <a:ext cx="6900512" cy="1187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36618-1AA4-244E-BEE3-3AD40F287BFB}" type="datetimeFigureOut">
              <a:rPr lang="sk-SK" smtClean="0"/>
              <a:t>22.5.2026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39F36-FD42-C040-BC35-14BC9DA94E66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5956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Nechať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30521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Nechať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52170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Nechať, v </a:t>
            </a:r>
            <a:r>
              <a:rPr lang="sk-SK" dirty="0" err="1"/>
              <a:t>krátnosti</a:t>
            </a:r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33985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Nechať, trocha sa zdržať. Povedať, že sú komplikované a je ich potrebné predspracovať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66370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Zmeniť na </a:t>
            </a:r>
            <a:r>
              <a:rPr lang="sk-SK" dirty="0" err="1"/>
              <a:t>basic</a:t>
            </a:r>
            <a:r>
              <a:rPr lang="sk-SK" dirty="0"/>
              <a:t> kroky pre tvorbu AP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84134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Doplniť výsledky zo stromov a pravidiel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39F36-FD42-C040-BC35-14BC9DA94E66}" type="slidenum">
              <a:rPr lang="sk-SK" smtClean="0"/>
              <a:t>11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3650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8FE764-90D8-1C42-BD1B-77A632F5A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127EA1A-54E6-3049-A545-F6A0558C8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AB8D79F-C929-B64A-A64C-7D3C35BD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4F6DEE9-819F-1643-91D8-BC53B58B44AE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06B9848-D31F-9D45-AB6A-7474432F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1070B81-DD17-444B-8704-98A49A85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5822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0F4812-A6DC-B34C-B2E3-3BD8EAAD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C6BD201-7B70-3645-BEA8-76CE26F22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0A5BD8B-A45C-6643-B499-C1436C82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87EE5E8-A1BA-7A40-8BF9-8EBC93156484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9FD6A20-FC56-CF43-AF8A-B8D25576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678EDB6-6675-ED4A-A603-DC4E9101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1190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BB1FD5-49C5-644E-87F1-F16CD1A2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C45892F-A847-0049-8A8F-AD228A0D8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F30D482-AFA0-1B49-84DE-4BE91A41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CC4B1AE-0C5D-FB46-957D-F477D9DCA4F8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0684F05-CAED-4041-A045-8B2BA4E2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59439BE-42A1-4D4D-AED8-0CB85030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222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95C3C6-2C39-8143-8F37-C34E9D5F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E5F1075-10B7-D64E-BA86-6BD8FB41A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581C07F-6A79-F345-B7A7-88AF98C96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31411B1-2E05-A54E-A88A-000E8DF1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F8763FE6-4F82-524E-B03B-0767E22034B8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EBFBD47-1F6B-4647-BF94-4956373BD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9CF402DF-784B-3746-82F3-54133C3F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1430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0B8330-5D4D-2D45-9702-164AD5101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940146C-ED48-E140-BA0C-601AA1C52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3D301FE1-82B6-EF48-A9BD-61D6452C6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83FD746-92BC-E748-9156-A1D245C80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CB88E01D-9246-B849-96E7-3A79BF30F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BB8710FA-0F31-6143-8B27-25DBEEED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07E3034-5F33-5040-A561-178F2060C0B8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C477EF34-6A34-844B-8789-3A5646FBE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3C41BD3E-48C5-A647-AAE2-4DB586F7D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5318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8151B6-FC37-BA4D-8580-1491539E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8349666-142F-F54E-8411-9399B912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246287E6-811B-B340-AF13-EB6E60FEE5CF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FD8400E6-C90F-CB41-A9C9-A409D11E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F299E72E-F358-374A-87A0-DEFD8A40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7829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8AACDE27-94C9-4446-8DB6-DB9CAC6F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4716B9B-B001-854F-BDB7-D62EB3DC9F42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A2EF1E44-BB26-554B-8A7F-C86D6319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F995165-DFD3-8E4C-8468-11E11BC2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9068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3C56F5-BBE0-0D4B-8198-230113D4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581E05-6C51-044A-8AE8-6B4F95A41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07C4090-B871-A146-BD25-1C2436A91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193BDB7-78B6-1842-B3EF-8FEC1FBC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971A4E5-0169-D742-9F94-610DAFD3448C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CCD99E7-8E40-3E41-8117-D263A4914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AC3F2135-F9BB-BD41-8F7E-D9D55167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1331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19E54B-2C9D-F446-B527-5B505B46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7696EDD4-41B1-7342-A8F0-E9602ADA1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592B1A5-CF59-7E48-8CE4-7260D6760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1FECCD9-964E-024B-8F83-3EE0CE08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4572B329-F2D6-3C41-873F-87CF9F59144E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3B2CA0EE-D55C-AE4C-B5D8-9CBD2A3A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E9E33BF-2556-0C49-827B-B6301BD1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6024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489932-9127-EA42-B6C2-283BD2AB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40BCCA10-0D3A-684F-BC76-B4F02525B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2C05902-0DB9-C144-A9CC-65BD4239B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2744F53D-DA12-ED40-AF16-5C89598FAAE6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C056F4F-B1E1-2840-8C14-88D82023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965FBD5-4ED0-9F42-AE5B-81ED4308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952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DE78B1F9-61FF-E04D-ACB2-D25F95080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A50AD60F-5B7D-C344-B15D-EF43810D9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5C5F3CE-4509-7B42-9F49-8767111D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F25698A1-D97D-E54C-8C98-5FD9D81FA703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DD4E2271-7122-0D4D-A707-8DFD88BC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03B2687-21AD-5B41-8B0E-19A9B5A1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4014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E46DA073-5E9F-2D43-8E85-7C577538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07D3440-2F1B-3F45-A48B-2D65A468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40B9ABF-5DD8-3C45-8B8C-09611682F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182DB7A8-51E6-1F49-A786-F4440FCCAB17}" type="datetime1">
              <a:rPr lang="sk-SK" smtClean="0"/>
              <a:t>22.5.2026</a:t>
            </a:fld>
            <a:endParaRPr lang="en-US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7D49DF3-D6DB-4146-959D-F77EFDC62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02541AC-C511-2E4D-B612-723AB3D4C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2202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brázok, na ktorom je maľovanie, umenie&#10;&#10;Automaticky generovaný popis">
            <a:extLst>
              <a:ext uri="{FF2B5EF4-FFF2-40B4-BE49-F238E27FC236}">
                <a16:creationId xmlns:a16="http://schemas.microsoft.com/office/drawing/2014/main" id="{A329974F-4B1E-2989-4176-3E73C5516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97" r="24160" b="139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7C52D6A-DD85-1C45-93A6-2B2E89845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771988"/>
            <a:ext cx="4228930" cy="3774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sk-SK" sz="4400" b="1" dirty="0"/>
              <a:t>Softvérová aplikácia na analýzu korelácie medzi spánkom a</a:t>
            </a:r>
            <a:br>
              <a:rPr lang="sk-SK" sz="4400" b="1" dirty="0"/>
            </a:br>
            <a:r>
              <a:rPr lang="sk-SK" sz="4400" b="1" dirty="0"/>
              <a:t>pohybom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C3440B2-2138-2543-B46E-1831BFBA3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sk-SK" sz="1400" spc="50"/>
              <a:t>Autor: </a:t>
            </a:r>
            <a:r>
              <a:rPr lang="sk-SK" sz="1400" cap="none" spc="50"/>
              <a:t>Daniel Lieskovský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sk-SK" sz="1400" spc="50"/>
              <a:t>Vedúca práce: </a:t>
            </a:r>
            <a:r>
              <a:rPr lang="sk-SK" sz="1400" cap="none" spc="50"/>
              <a:t>prof. Ing. Elena Zaitseva, PhD.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sk-SK" sz="1400" spc="50"/>
              <a:t>Oponent: </a:t>
            </a:r>
            <a:r>
              <a:rPr lang="sk-SK" sz="1400" cap="none" spc="50"/>
              <a:t>prof. Ing. Vitaly Levashenko, PhD</a:t>
            </a:r>
            <a:r>
              <a:rPr lang="sk-SK" sz="1400" spc="50"/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spc="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151D2A74-7250-3E41-94E3-A7D3AD6A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1064"/>
            <a:ext cx="2743200" cy="640412"/>
          </a:xfrm>
        </p:spPr>
        <p:txBody>
          <a:bodyPr/>
          <a:lstStyle/>
          <a:p>
            <a:fld id="{4CD77608-3819-479B-BB98-C216BA724EFE}" type="slidenum">
              <a:rPr lang="en-US" sz="2000" smtClean="0"/>
              <a:pPr/>
              <a:t>1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325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EEF9CC0-5134-FE45-9322-36D0D4F2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sk-SK" sz="5400" dirty="0"/>
              <a:t>Ciele práce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Zástupný objekt pre obsah 2">
            <a:extLst>
              <a:ext uri="{FF2B5EF4-FFF2-40B4-BE49-F238E27FC236}">
                <a16:creationId xmlns:a16="http://schemas.microsoft.com/office/drawing/2014/main" id="{B0D818AD-C683-4C60-156C-8F1AA97CCC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004933"/>
              </p:ext>
            </p:extLst>
          </p:nvPr>
        </p:nvGraphicFramePr>
        <p:xfrm>
          <a:off x="4656488" y="1442219"/>
          <a:ext cx="6900512" cy="3973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65A18833-1036-474C-A527-F5A37D4E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8353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7A7047-EC5F-EA49-B766-E66698A0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38036"/>
            <a:ext cx="7628239" cy="1402470"/>
          </a:xfrm>
        </p:spPr>
        <p:txBody>
          <a:bodyPr anchor="t">
            <a:normAutofit/>
          </a:bodyPr>
          <a:lstStyle/>
          <a:p>
            <a:r>
              <a:rPr lang="sk-SK" sz="4000" dirty="0"/>
              <a:t>Význam spánku a fyzickej aktivity </a:t>
            </a:r>
            <a:r>
              <a:rPr lang="sk-SK" sz="4000" baseline="-25000" dirty="0"/>
              <a:t>(1)</a:t>
            </a:r>
          </a:p>
        </p:txBody>
      </p: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B1CEEFA-9C68-8741-8826-1AE6DE71F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2052"/>
            <a:ext cx="7315092" cy="4300331"/>
          </a:xfrm>
        </p:spPr>
        <p:txBody>
          <a:bodyPr>
            <a:normAutofit/>
          </a:bodyPr>
          <a:lstStyle/>
          <a:p>
            <a:r>
              <a:rPr lang="sk-SK" sz="2400" dirty="0"/>
              <a:t>Spánok a fyzickú aktivitu radíme medzi základné biologické potreby</a:t>
            </a:r>
          </a:p>
          <a:p>
            <a:r>
              <a:rPr lang="sk-SK" sz="2400" dirty="0"/>
              <a:t>Dostatočná dĺžka spánku je jedným z predpokladov pre udržanie fyzického a duševného zdravia</a:t>
            </a:r>
          </a:p>
          <a:p>
            <a:pPr lvl="1"/>
            <a:r>
              <a:rPr lang="sk-SK" sz="2200" dirty="0"/>
              <a:t>Odporúčaná dĺžka spánku dospelého jedinca je od 7 až 9 hodín</a:t>
            </a:r>
            <a:endParaRPr lang="sk-SK" dirty="0"/>
          </a:p>
          <a:p>
            <a:r>
              <a:rPr lang="sk-SK" sz="2400" dirty="0"/>
              <a:t>Fyzická aktivita je kľúčová pre celkovú kvalitu života</a:t>
            </a:r>
          </a:p>
          <a:p>
            <a:pPr lvl="1"/>
            <a:r>
              <a:rPr lang="sk-SK" sz="2200" dirty="0"/>
              <a:t>Stredná intenzita od 180 až do 300 minút</a:t>
            </a:r>
          </a:p>
          <a:p>
            <a:pPr lvl="1"/>
            <a:r>
              <a:rPr lang="sk-SK" sz="2200" dirty="0"/>
              <a:t>Vysoká intenzita od 75 až do 150 minút</a:t>
            </a:r>
          </a:p>
          <a:p>
            <a:pPr lvl="1"/>
            <a:r>
              <a:rPr lang="sk-SK" sz="2200" dirty="0"/>
              <a:t>Silový tréning aspoň dvakrát za týždeň</a:t>
            </a:r>
          </a:p>
          <a:p>
            <a:endParaRPr lang="sk-SK" sz="2000" dirty="0"/>
          </a:p>
        </p:txBody>
      </p:sp>
      <p:pic>
        <p:nvPicPr>
          <p:cNvPr id="1028" name="Picture 4" descr="Fall asleep faster and sleep better - Every Mind Matters - NHS">
            <a:extLst>
              <a:ext uri="{FF2B5EF4-FFF2-40B4-BE49-F238E27FC236}">
                <a16:creationId xmlns:a16="http://schemas.microsoft.com/office/drawing/2014/main" id="{3F42FEFC-B06C-BC4A-AF27-D1BFD0A85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7" r="-3" b="14500"/>
          <a:stretch>
            <a:fillRect/>
          </a:stretch>
        </p:blipFill>
        <p:spPr bwMode="auto">
          <a:xfrm>
            <a:off x="8077093" y="889557"/>
            <a:ext cx="3811747" cy="244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Running Man PNGs for Free Download">
            <a:extLst>
              <a:ext uri="{FF2B5EF4-FFF2-40B4-BE49-F238E27FC236}">
                <a16:creationId xmlns:a16="http://schemas.microsoft.com/office/drawing/2014/main" id="{5DBE2A64-F6E4-6347-B58C-F4438D38F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12"/>
          <a:stretch>
            <a:fillRect/>
          </a:stretch>
        </p:blipFill>
        <p:spPr bwMode="auto">
          <a:xfrm>
            <a:off x="8742517" y="3500173"/>
            <a:ext cx="2480897" cy="2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0F658D9-7D62-F347-8BD9-29B4E417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4950"/>
            <a:ext cx="2743200" cy="586526"/>
          </a:xfrm>
        </p:spPr>
        <p:txBody>
          <a:bodyPr/>
          <a:lstStyle/>
          <a:p>
            <a:fld id="{4CD77608-3819-479B-BB98-C216BA724EFE}" type="slidenum">
              <a:rPr lang="en-US" sz="2000" smtClean="0"/>
              <a:pPr/>
              <a:t>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075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2BC37E8-FB56-654C-BE25-25BF39A0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sk-SK" sz="5400" dirty="0"/>
              <a:t>Vstupné dáta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3A326FC-07AA-B24C-95DE-CC184A57B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sk-SK" sz="2200"/>
              <a:t>Odpovede respondentov boli zachytené v CSV súbor</a:t>
            </a:r>
          </a:p>
          <a:p>
            <a:r>
              <a:rPr lang="sk-SK" sz="2200"/>
              <a:t>Celkovo bolo zaznamenaných 117 odpovedí</a:t>
            </a:r>
          </a:p>
          <a:p>
            <a:r>
              <a:rPr lang="sk-SK" sz="2200"/>
              <a:t>Jedna odpoveď respondenta obsahovala 23 atribútov</a:t>
            </a:r>
          </a:p>
          <a:p>
            <a:endParaRPr lang="sk-SK" sz="220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03C22B4A-6347-D543-A2E0-8F02286FC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962760"/>
              </p:ext>
            </p:extLst>
          </p:nvPr>
        </p:nvGraphicFramePr>
        <p:xfrm>
          <a:off x="4654296" y="1006059"/>
          <a:ext cx="6903721" cy="4845888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519812">
                  <a:extLst>
                    <a:ext uri="{9D8B030D-6E8A-4147-A177-3AD203B41FA5}">
                      <a16:colId xmlns:a16="http://schemas.microsoft.com/office/drawing/2014/main" val="966526065"/>
                    </a:ext>
                  </a:extLst>
                </a:gridCol>
                <a:gridCol w="2002665">
                  <a:extLst>
                    <a:ext uri="{9D8B030D-6E8A-4147-A177-3AD203B41FA5}">
                      <a16:colId xmlns:a16="http://schemas.microsoft.com/office/drawing/2014/main" val="1350987374"/>
                    </a:ext>
                  </a:extLst>
                </a:gridCol>
                <a:gridCol w="3381244">
                  <a:extLst>
                    <a:ext uri="{9D8B030D-6E8A-4147-A177-3AD203B41FA5}">
                      <a16:colId xmlns:a16="http://schemas.microsoft.com/office/drawing/2014/main" val="3529473105"/>
                    </a:ext>
                  </a:extLst>
                </a:gridCol>
              </a:tblGrid>
              <a:tr h="278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Typ premennej</a:t>
                      </a:r>
                      <a:endParaRPr lang="sk-SK" sz="14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Popis</a:t>
                      </a:r>
                      <a:endParaRPr lang="sk-SK" sz="14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Príklad atribútov</a:t>
                      </a:r>
                      <a:endParaRPr lang="sk-SK" sz="14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651057097"/>
                  </a:ext>
                </a:extLst>
              </a:tr>
              <a:tr h="802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Demografické údaje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Základné charakteristiky respondentov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Vek, pohlavie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2959953783"/>
                  </a:ext>
                </a:extLst>
              </a:tr>
              <a:tr h="540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Rodinné zázemie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Vzdelanie rodinných príslušníkov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Najvyššie dosiahnuté vzdelanie matky a otca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2765751332"/>
                  </a:ext>
                </a:extLst>
              </a:tr>
              <a:tr h="802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Spánok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Informácie o spánkových návykoch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Počet hodín spánku cez pracovné dni a víkend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743405503"/>
                  </a:ext>
                </a:extLst>
              </a:tr>
              <a:tr h="540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Fyzická aktivita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Úroveň a intenzita pohybovej aktivity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Počet minút náročnej, mierne náročnej a nenáročnej aktivity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294777203"/>
                  </a:ext>
                </a:extLst>
              </a:tr>
              <a:tr h="802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Doprava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Spôsob a miera presunov respondentov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Priemerný počet presunov pomocou verejnej alebo súkromnej dopravy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1488216396"/>
                  </a:ext>
                </a:extLst>
              </a:tr>
              <a:tr h="540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Životný štýl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Návyky ovplyvňujúce zdravie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Fajčenie, konzumácia alkoholu, miera motivácie k fyzickej aktivite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570642621"/>
                  </a:ext>
                </a:extLst>
              </a:tr>
              <a:tr h="54023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Sedavé správanie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Čas strávený bez pohybu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sk-SK" sz="1400">
                          <a:effectLst/>
                        </a:rPr>
                        <a:t>Priemerne množstvo minút strávených sedením</a:t>
                      </a:r>
                      <a:endParaRPr lang="sk-SK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Courier New" panose="02070309020205020404" pitchFamily="49" charset="0"/>
                      </a:endParaRPr>
                    </a:p>
                  </a:txBody>
                  <a:tcPr marL="87936" marR="87936" marT="0" marB="0"/>
                </a:tc>
                <a:extLst>
                  <a:ext uri="{0D108BD9-81ED-4DB2-BD59-A6C34878D82A}">
                    <a16:rowId xmlns:a16="http://schemas.microsoft.com/office/drawing/2014/main" val="750845876"/>
                  </a:ext>
                </a:extLst>
              </a:tr>
            </a:tbl>
          </a:graphicData>
        </a:graphic>
      </p:graphicFrame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89CC36A-C2E2-7F41-BC82-948B61AB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5395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E8315C-E420-A646-9BEE-94B274DB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k-SK" sz="3800" dirty="0"/>
              <a:t>Predspracovanie vstupných dát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69A7656-3A4A-9D44-A8F9-27A6EDF08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847774" cy="5431536"/>
          </a:xfrm>
        </p:spPr>
        <p:txBody>
          <a:bodyPr anchor="ctr">
            <a:normAutofit/>
          </a:bodyPr>
          <a:lstStyle/>
          <a:p>
            <a:r>
              <a:rPr lang="sk-SK" sz="2400" dirty="0"/>
              <a:t>Kategorizácia dĺžky spánku (Málo, Normálne a Veľa)</a:t>
            </a:r>
          </a:p>
          <a:p>
            <a:r>
              <a:rPr lang="sk-SK" sz="2400" dirty="0"/>
              <a:t>Kategorizácia dĺžky fyzickej aktivity (Dostatočne a Nedostatočne)</a:t>
            </a:r>
          </a:p>
          <a:p>
            <a:r>
              <a:rPr lang="sk-SK" sz="2400" dirty="0"/>
              <a:t>Odstránenie riadkov bez hodnoty cieľovej premennej</a:t>
            </a:r>
          </a:p>
          <a:p>
            <a:r>
              <a:rPr lang="sk-SK" sz="2400" dirty="0"/>
              <a:t>Automatická detekcia potencionálne nevhodných stĺpcov</a:t>
            </a:r>
          </a:p>
          <a:p>
            <a:r>
              <a:rPr lang="sk-SK" sz="2400" dirty="0"/>
              <a:t>Kontrola korelácie</a:t>
            </a:r>
          </a:p>
          <a:p>
            <a:endParaRPr lang="sk-SK" sz="22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34D61BB-7182-FE4A-9EE9-65A4254E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914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C01A867-9C2F-6A48-8A6E-AA73B787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/>
              <a:t>Tvorba rozhodovacích stromov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0C65385-8754-8D4C-B840-2AA5A348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2444"/>
            <a:ext cx="10515600" cy="3866429"/>
          </a:xfrm>
        </p:spPr>
        <p:txBody>
          <a:bodyPr>
            <a:normAutofit/>
          </a:bodyPr>
          <a:lstStyle/>
          <a:p>
            <a:r>
              <a:rPr lang="sk-SK" sz="2400" dirty="0"/>
              <a:t>Doplnenie chýbajúcich hodnôt</a:t>
            </a:r>
          </a:p>
          <a:p>
            <a:r>
              <a:rPr lang="sk-SK" sz="2400" dirty="0"/>
              <a:t>Úprava distribúcie tried pomocou SMOTE alebo ROS</a:t>
            </a:r>
          </a:p>
          <a:p>
            <a:r>
              <a:rPr lang="sk-SK" sz="2400" dirty="0"/>
              <a:t>Hľadanie najvhodnejšej kombinácie:</a:t>
            </a:r>
          </a:p>
          <a:p>
            <a:pPr lvl="1"/>
            <a:r>
              <a:rPr lang="sk-SK" dirty="0"/>
              <a:t>hĺbky stromu</a:t>
            </a:r>
          </a:p>
          <a:p>
            <a:pPr lvl="1"/>
            <a:r>
              <a:rPr lang="sk-SK" dirty="0"/>
              <a:t>minimálneho počtu vzoriek v liste</a:t>
            </a:r>
          </a:p>
          <a:p>
            <a:pPr lvl="1"/>
            <a:r>
              <a:rPr lang="sk-SK" dirty="0"/>
              <a:t>minimálneho počtu vzoriek na ďalšie delenie vetvy </a:t>
            </a:r>
          </a:p>
          <a:p>
            <a:pPr lvl="1"/>
            <a:r>
              <a:rPr lang="sk-SK" dirty="0"/>
              <a:t>Kritéria na delenie (</a:t>
            </a:r>
            <a:r>
              <a:rPr lang="sk-SK" dirty="0" err="1"/>
              <a:t>Gini</a:t>
            </a:r>
            <a:r>
              <a:rPr lang="sk-SK" dirty="0"/>
              <a:t> alebo </a:t>
            </a:r>
            <a:r>
              <a:rPr lang="sk-SK" dirty="0" err="1"/>
              <a:t>entropy</a:t>
            </a:r>
            <a:r>
              <a:rPr lang="sk-SK" dirty="0"/>
              <a:t>)</a:t>
            </a:r>
          </a:p>
          <a:p>
            <a:r>
              <a:rPr lang="sk-SK" sz="2400" dirty="0"/>
              <a:t>Dĺžka spánku, dostatok nenáročnej, mierne náročnej a náročnej fyzickej aktivity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CA1F318-7F0E-8E42-9BE0-95E2AC31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7862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15BEBF-F4D1-5348-8390-818FA924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 dirty="0"/>
              <a:t>Asociačné pravidlá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8A58883-D6FA-594A-8BD6-C733C0625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sk-SK" sz="2400" dirty="0"/>
              <a:t>Generovanie pravidiel prebiehalo za pomoci </a:t>
            </a:r>
            <a:r>
              <a:rPr lang="sk-SK" sz="2400" dirty="0" err="1"/>
              <a:t>Apriori</a:t>
            </a:r>
            <a:r>
              <a:rPr lang="sk-SK" sz="2400" dirty="0"/>
              <a:t> algoritmu</a:t>
            </a:r>
          </a:p>
          <a:p>
            <a:r>
              <a:rPr lang="sk-SK" sz="2400" dirty="0"/>
              <a:t>Skúmané pravidlá</a:t>
            </a:r>
          </a:p>
          <a:p>
            <a:pPr marL="630000" lvl="2">
              <a:spcBef>
                <a:spcPts val="1000"/>
              </a:spcBef>
            </a:pPr>
            <a:r>
              <a:rPr lang="sk-SK" sz="2400" dirty="0"/>
              <a:t>Ako sa dnes cítite po zdravotnej stránke od 1 po 10? (0 - zle, 1 - dobre)</a:t>
            </a:r>
          </a:p>
          <a:p>
            <a:pPr marL="630000" lvl="2">
              <a:spcBef>
                <a:spcPts val="1000"/>
              </a:spcBef>
            </a:pPr>
            <a:r>
              <a:rPr lang="sk-SK" sz="2400" dirty="0"/>
              <a:t>Spánok cez pracovný deň (&lt;7 = málo (0); &lt;9 = dobre (1); 9&gt; = veľa (2))</a:t>
            </a:r>
          </a:p>
          <a:p>
            <a:pPr marL="630000" lvl="2">
              <a:spcBef>
                <a:spcPts val="1000"/>
              </a:spcBef>
            </a:pPr>
            <a:r>
              <a:rPr lang="sk-SK" sz="2400" dirty="0"/>
              <a:t>Spánok cez víkendový deň (&lt;7 = málo (0); &lt;9 = dobre (1); 9&gt; = veľa (2))</a:t>
            </a:r>
          </a:p>
          <a:p>
            <a:pPr marL="630000" lvl="2">
              <a:spcBef>
                <a:spcPts val="1000"/>
              </a:spcBef>
            </a:pPr>
            <a:r>
              <a:rPr lang="sk-SK" sz="2400" dirty="0"/>
              <a:t>A odpoveď na otázku, či respondent vykonáva dostatok fyzickej aktivity (aspoň v jednej z nenáročnej, mierne náročnej alebo náročnej kategórie spĺňa minimum)</a:t>
            </a:r>
          </a:p>
          <a:p>
            <a:pPr lvl="1"/>
            <a:endParaRPr lang="sk-SK" sz="22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6DABF57-6CD0-DF43-8556-E96231DF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4098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A9F36F-85AD-4B4A-8A95-3C349005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Implementácia aplikácie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B92BCA8-9DA1-DE4B-9949-861966882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Aplikácia bola vyvinutá za pomoci technológií </a:t>
            </a:r>
            <a:r>
              <a:rPr lang="sk-SK" dirty="0" err="1"/>
              <a:t>Flask</a:t>
            </a:r>
            <a:r>
              <a:rPr lang="sk-SK" dirty="0"/>
              <a:t> a PostgreSQL</a:t>
            </a:r>
          </a:p>
          <a:p>
            <a:r>
              <a:rPr lang="sk-SK" dirty="0"/>
              <a:t>Obsahuje dotazníkovú časť, sumarizačnú časť a odporúčaciu časť</a:t>
            </a:r>
          </a:p>
          <a:p>
            <a:r>
              <a:rPr lang="sk-SK" dirty="0"/>
              <a:t>Celá aplikácia funguje v slovenskom alebo anglickom jazyku</a:t>
            </a:r>
          </a:p>
          <a:p>
            <a:endParaRPr lang="sk-SK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F6AD27-3B0D-C443-9930-C6EB6E3C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8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5736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137CEA-569B-5545-8058-2562CE697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sk-SK"/>
              <a:t>Dotazníková časť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E44E64-B87E-7740-AE1F-1E86A6D84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anchor="t">
            <a:normAutofit/>
          </a:bodyPr>
          <a:lstStyle/>
          <a:p>
            <a:r>
              <a:rPr lang="sk-SK" dirty="0"/>
              <a:t>V tejto časti prebieha vypĺňanie rovnakých otázok aké sú v rámci vstupného súboru </a:t>
            </a:r>
          </a:p>
        </p:txBody>
      </p:sp>
      <p:pic>
        <p:nvPicPr>
          <p:cNvPr id="4" name="Obrázok 3" descr="Obrázok, na ktorom je text, snímka obrazovky, písmo, číslo&#10;&#10;Automaticky generovaný popis">
            <a:extLst>
              <a:ext uri="{FF2B5EF4-FFF2-40B4-BE49-F238E27FC236}">
                <a16:creationId xmlns:a16="http://schemas.microsoft.com/office/drawing/2014/main" id="{24D38DB8-07FD-9B45-A893-668EED2AD9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0000" y="1586763"/>
            <a:ext cx="6049714" cy="3675199"/>
          </a:xfrm>
          <a:prstGeom prst="rect">
            <a:avLst/>
          </a:prstGeom>
        </p:spPr>
      </p:pic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47C3D4B1-A444-6F41-8458-36708AA2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9024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DAB393-214C-D84A-9485-DBF3E41C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b">
            <a:normAutofit/>
          </a:bodyPr>
          <a:lstStyle/>
          <a:p>
            <a:r>
              <a:rPr lang="sk-SK" dirty="0"/>
              <a:t>Sumarizačná časť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582B73-EC46-EA46-A67A-DD8DFE3E0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anchor="t">
            <a:normAutofit/>
          </a:bodyPr>
          <a:lstStyle/>
          <a:p>
            <a:r>
              <a:rPr lang="sk-SK" dirty="0"/>
              <a:t>Po zodpovedaní všetkých odpovedí je respondent presmerovaný na sumár, kde ho čaká prehľad všetkých jeho zadaných odpovedí, ktoré sa uložia do databázy </a:t>
            </a:r>
          </a:p>
        </p:txBody>
      </p:sp>
      <p:pic>
        <p:nvPicPr>
          <p:cNvPr id="4" name="Obrázok 3" descr="Obrázok, na ktorom je text, snímka obrazovky, písmo, dokument&#10;&#10;Automaticky generovaný popis">
            <a:extLst>
              <a:ext uri="{FF2B5EF4-FFF2-40B4-BE49-F238E27FC236}">
                <a16:creationId xmlns:a16="http://schemas.microsoft.com/office/drawing/2014/main" id="{D29C508A-B7BB-CE48-A56D-50032AA64E1D}"/>
              </a:ext>
            </a:extLst>
          </p:cNvPr>
          <p:cNvPicPr/>
          <p:nvPr/>
        </p:nvPicPr>
        <p:blipFill rotWithShape="1">
          <a:blip r:embed="rId2"/>
          <a:srcRect r="1063"/>
          <a:stretch/>
        </p:blipFill>
        <p:spPr bwMode="auto">
          <a:xfrm>
            <a:off x="541776" y="1866656"/>
            <a:ext cx="5353200" cy="312468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4103AE7E-E68B-7745-A97D-296D70B3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10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5953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4F3822-0DCF-9C49-AEF4-E5F679D54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sk-SK" dirty="0"/>
              <a:t>Odporúčacia časť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2EC98EF-ED71-9048-B8D0-70DB674E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anchor="t">
            <a:normAutofit/>
          </a:bodyPr>
          <a:lstStyle/>
          <a:p>
            <a:r>
              <a:rPr lang="sk-SK" dirty="0"/>
              <a:t>V tejto časti môžeme nájsť predikcie na základe rozhodovacích stromov a odporúčania na základe relevantných asociačných pravidiel</a:t>
            </a:r>
          </a:p>
        </p:txBody>
      </p:sp>
      <p:pic>
        <p:nvPicPr>
          <p:cNvPr id="6" name="Obrázok 5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2C59E694-6FF2-C948-A692-3E1FD26D89C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0000" y="803153"/>
            <a:ext cx="6049715" cy="2283766"/>
          </a:xfrm>
          <a:prstGeom prst="rect">
            <a:avLst/>
          </a:prstGeom>
        </p:spPr>
      </p:pic>
      <p:pic>
        <p:nvPicPr>
          <p:cNvPr id="4" name="Obrázok 3" descr="Obrázok, na ktorom je text, písmo, snímka obrazovky&#10;&#10;Automaticky generovaný popis">
            <a:extLst>
              <a:ext uri="{FF2B5EF4-FFF2-40B4-BE49-F238E27FC236}">
                <a16:creationId xmlns:a16="http://schemas.microsoft.com/office/drawing/2014/main" id="{8BA17FDA-270C-604E-8E25-915F31A606A0}"/>
              </a:ext>
            </a:extLst>
          </p:cNvPr>
          <p:cNvPicPr/>
          <p:nvPr/>
        </p:nvPicPr>
        <p:blipFill rotWithShape="1">
          <a:blip r:embed="rId4"/>
          <a:srcRect l="1488"/>
          <a:stretch/>
        </p:blipFill>
        <p:spPr bwMode="auto">
          <a:xfrm>
            <a:off x="540000" y="3939865"/>
            <a:ext cx="6049715" cy="1949795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D3788AC-5121-D44B-88F9-64CA4C20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11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87877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7540AA0-6C19-FF4E-A787-2F62743F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sz="5400"/>
              <a:t>Rozhodovacie stromy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uľka 4">
            <a:extLst>
              <a:ext uri="{FF2B5EF4-FFF2-40B4-BE49-F238E27FC236}">
                <a16:creationId xmlns:a16="http://schemas.microsoft.com/office/drawing/2014/main" id="{DE22E2FD-B459-B04A-8918-6E6C040649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76785"/>
              </p:ext>
            </p:extLst>
          </p:nvPr>
        </p:nvGraphicFramePr>
        <p:xfrm>
          <a:off x="1297019" y="2228087"/>
          <a:ext cx="9597965" cy="39488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80953">
                  <a:extLst>
                    <a:ext uri="{9D8B030D-6E8A-4147-A177-3AD203B41FA5}">
                      <a16:colId xmlns:a16="http://schemas.microsoft.com/office/drawing/2014/main" val="1704939514"/>
                    </a:ext>
                  </a:extLst>
                </a:gridCol>
                <a:gridCol w="1142077">
                  <a:extLst>
                    <a:ext uri="{9D8B030D-6E8A-4147-A177-3AD203B41FA5}">
                      <a16:colId xmlns:a16="http://schemas.microsoft.com/office/drawing/2014/main" val="401696385"/>
                    </a:ext>
                  </a:extLst>
                </a:gridCol>
                <a:gridCol w="2142201">
                  <a:extLst>
                    <a:ext uri="{9D8B030D-6E8A-4147-A177-3AD203B41FA5}">
                      <a16:colId xmlns:a16="http://schemas.microsoft.com/office/drawing/2014/main" val="2817262498"/>
                    </a:ext>
                  </a:extLst>
                </a:gridCol>
                <a:gridCol w="1819581">
                  <a:extLst>
                    <a:ext uri="{9D8B030D-6E8A-4147-A177-3AD203B41FA5}">
                      <a16:colId xmlns:a16="http://schemas.microsoft.com/office/drawing/2014/main" val="91943125"/>
                    </a:ext>
                  </a:extLst>
                </a:gridCol>
                <a:gridCol w="2013153">
                  <a:extLst>
                    <a:ext uri="{9D8B030D-6E8A-4147-A177-3AD203B41FA5}">
                      <a16:colId xmlns:a16="http://schemas.microsoft.com/office/drawing/2014/main" val="23869285"/>
                    </a:ext>
                  </a:extLst>
                </a:gridCol>
              </a:tblGrid>
              <a:tr h="1207892">
                <a:tc>
                  <a:txBody>
                    <a:bodyPr/>
                    <a:lstStyle/>
                    <a:p>
                      <a:r>
                        <a:rPr lang="sk-SK" sz="2300"/>
                        <a:t>Rozhodovací strom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Hĺbka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Minimum vzoriek v liste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Minimum vzoriek pre delenie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Kritérium</a:t>
                      </a:r>
                    </a:p>
                  </a:txBody>
                  <a:tcPr marL="116143" marR="116143" marT="58072" marB="58072"/>
                </a:tc>
                <a:extLst>
                  <a:ext uri="{0D108BD9-81ED-4DB2-BD59-A6C34878D82A}">
                    <a16:rowId xmlns:a16="http://schemas.microsoft.com/office/drawing/2014/main" val="4007231226"/>
                  </a:ext>
                </a:extLst>
              </a:tr>
              <a:tr h="511031">
                <a:tc>
                  <a:txBody>
                    <a:bodyPr/>
                    <a:lstStyle/>
                    <a:p>
                      <a:r>
                        <a:rPr lang="sk-SK" sz="2300"/>
                        <a:t>Spánok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8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4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10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entorpia</a:t>
                      </a:r>
                    </a:p>
                  </a:txBody>
                  <a:tcPr marL="116143" marR="116143" marT="58072" marB="58072"/>
                </a:tc>
                <a:extLst>
                  <a:ext uri="{0D108BD9-81ED-4DB2-BD59-A6C34878D82A}">
                    <a16:rowId xmlns:a16="http://schemas.microsoft.com/office/drawing/2014/main" val="1409003158"/>
                  </a:ext>
                </a:extLst>
              </a:tr>
              <a:tr h="859462">
                <a:tc>
                  <a:txBody>
                    <a:bodyPr/>
                    <a:lstStyle/>
                    <a:p>
                      <a:r>
                        <a:rPr lang="sk-SK" sz="2300"/>
                        <a:t>Nenáročná aktivita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2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2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Giniho index</a:t>
                      </a:r>
                    </a:p>
                  </a:txBody>
                  <a:tcPr marL="116143" marR="116143" marT="58072" marB="58072"/>
                </a:tc>
                <a:extLst>
                  <a:ext uri="{0D108BD9-81ED-4DB2-BD59-A6C34878D82A}">
                    <a16:rowId xmlns:a16="http://schemas.microsoft.com/office/drawing/2014/main" val="2582098357"/>
                  </a:ext>
                </a:extLst>
              </a:tr>
              <a:tr h="859462">
                <a:tc>
                  <a:txBody>
                    <a:bodyPr/>
                    <a:lstStyle/>
                    <a:p>
                      <a:r>
                        <a:rPr lang="sk-SK" sz="2300"/>
                        <a:t>Mierne náročná aktivita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6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10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Giniho index</a:t>
                      </a:r>
                    </a:p>
                  </a:txBody>
                  <a:tcPr marL="116143" marR="116143" marT="58072" marB="58072"/>
                </a:tc>
                <a:extLst>
                  <a:ext uri="{0D108BD9-81ED-4DB2-BD59-A6C34878D82A}">
                    <a16:rowId xmlns:a16="http://schemas.microsoft.com/office/drawing/2014/main" val="3217349106"/>
                  </a:ext>
                </a:extLst>
              </a:tr>
              <a:tr h="511031">
                <a:tc>
                  <a:txBody>
                    <a:bodyPr/>
                    <a:lstStyle/>
                    <a:p>
                      <a:r>
                        <a:rPr lang="sk-SK" sz="2300"/>
                        <a:t>Náročná aktivita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2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1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2</a:t>
                      </a:r>
                    </a:p>
                  </a:txBody>
                  <a:tcPr marL="116143" marR="116143" marT="58072" marB="58072"/>
                </a:tc>
                <a:tc>
                  <a:txBody>
                    <a:bodyPr/>
                    <a:lstStyle/>
                    <a:p>
                      <a:r>
                        <a:rPr lang="sk-SK" sz="2300"/>
                        <a:t>entropia</a:t>
                      </a:r>
                    </a:p>
                  </a:txBody>
                  <a:tcPr marL="116143" marR="116143" marT="58072" marB="58072"/>
                </a:tc>
                <a:extLst>
                  <a:ext uri="{0D108BD9-81ED-4DB2-BD59-A6C34878D82A}">
                    <a16:rowId xmlns:a16="http://schemas.microsoft.com/office/drawing/2014/main" val="1687404262"/>
                  </a:ext>
                </a:extLst>
              </a:tr>
            </a:tbl>
          </a:graphicData>
        </a:graphic>
      </p:graphicFrame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6AD529ED-A220-624F-B147-CB8627DE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93735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B4BBE7-9197-3D49-981B-1D8E631CF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sk-SK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</a:t>
            </a:r>
            <a:r>
              <a:rPr lang="sk-SK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predikujúci</a:t>
            </a:r>
            <a:r>
              <a:rPr lang="sk-SK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dĺžku spánku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Zástupný objekt pre obsah 4">
            <a:extLst>
              <a:ext uri="{FF2B5EF4-FFF2-40B4-BE49-F238E27FC236}">
                <a16:creationId xmlns:a16="http://schemas.microsoft.com/office/drawing/2014/main" id="{F99B75E8-33FA-2641-B22D-08A04B319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948" y="2102834"/>
            <a:ext cx="11876128" cy="3676774"/>
          </a:xfrm>
        </p:spPr>
      </p:pic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5A8EC625-CC6A-3C4D-A3B7-83AB09F5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14852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01B8259-B878-3247-96E2-9D21187F9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predikujúci mierne náročnú fyzickú aktivitu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Zástupný objekt pre obsah 7">
            <a:extLst>
              <a:ext uri="{FF2B5EF4-FFF2-40B4-BE49-F238E27FC236}">
                <a16:creationId xmlns:a16="http://schemas.microsoft.com/office/drawing/2014/main" id="{85FA6674-13DB-4C41-B9DC-750AC366A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2084547"/>
            <a:ext cx="11548872" cy="4120120"/>
          </a:xfrm>
          <a:prstGeom prst="rect">
            <a:avLst/>
          </a:prstGeom>
        </p:spPr>
      </p:pic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57E4918-0F2B-DC45-ADA5-6336E7DA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D77608-3819-479B-BB98-C216BA724EFE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59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CDF2CB-A70D-954B-9623-88EE7003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457200"/>
            <a:ext cx="11548872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 err="1"/>
              <a:t>Modely</a:t>
            </a:r>
            <a:r>
              <a:rPr lang="en-US" dirty="0"/>
              <a:t> pre </a:t>
            </a:r>
            <a:r>
              <a:rPr lang="en-US" dirty="0" err="1"/>
              <a:t>nenáročnú</a:t>
            </a:r>
            <a:r>
              <a:rPr lang="en-US" dirty="0"/>
              <a:t> a </a:t>
            </a:r>
            <a:r>
              <a:rPr lang="en-US" dirty="0" err="1"/>
              <a:t>náročnú</a:t>
            </a:r>
            <a:r>
              <a:rPr lang="en-US" dirty="0"/>
              <a:t> </a:t>
            </a:r>
            <a:r>
              <a:rPr lang="en-US" dirty="0" err="1"/>
              <a:t>fyzickú</a:t>
            </a:r>
            <a:r>
              <a:rPr lang="en-US" dirty="0"/>
              <a:t> </a:t>
            </a:r>
            <a:r>
              <a:rPr lang="en-US" dirty="0" err="1"/>
              <a:t>aktivitu</a:t>
            </a:r>
            <a:endParaRPr lang="en-US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CCDB12CE-2994-6341-9946-A67C22E8E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3353399"/>
            <a:ext cx="5614416" cy="2184217"/>
          </a:xfrm>
          <a:prstGeom prst="rect">
            <a:avLst/>
          </a:prstGeom>
        </p:spPr>
      </p:pic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9A7945A7-5DE0-FF4B-88DE-9CB1E5EBBD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4496" y="3562376"/>
            <a:ext cx="5614416" cy="1766264"/>
          </a:xfrm>
          <a:prstGeom prst="rect">
            <a:avLst/>
          </a:prstGeom>
        </p:spPr>
      </p:pic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BBD993ED-30E0-E645-9F65-CBC66D43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77704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43EFD2F-58CD-A740-A3B7-F4D57FB2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Asociačné pravidlá </a:t>
            </a:r>
            <a:r>
              <a:rPr lang="en-US" sz="6600" baseline="-25000"/>
              <a:t>(1)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8FAA204A-49E7-EC40-A3B5-E038FEA92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9" t="4070" r="4777" b="4070"/>
          <a:stretch/>
        </p:blipFill>
        <p:spPr>
          <a:xfrm>
            <a:off x="216787" y="2650686"/>
            <a:ext cx="5663171" cy="2855449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8F992C36-88FE-DE41-A898-B1DC1E471F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06" t="6857" r="5707" b="5486"/>
          <a:stretch/>
        </p:blipFill>
        <p:spPr>
          <a:xfrm>
            <a:off x="6093700" y="2705550"/>
            <a:ext cx="5881511" cy="2670889"/>
          </a:xfrm>
          <a:prstGeom prst="rect">
            <a:avLst/>
          </a:prstGeom>
        </p:spPr>
      </p:pic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757E2510-B417-A846-ABC6-64D68991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02101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43EFD2F-58CD-A740-A3B7-F4D57FB2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Asociačné pravidlá </a:t>
            </a:r>
            <a:r>
              <a:rPr lang="en-US" sz="6600" baseline="-25000"/>
              <a:t>(2)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DE1DCB06-5711-6744-9FEC-8787A21F5D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0" t="8337" r="4421" b="6564"/>
          <a:stretch/>
        </p:blipFill>
        <p:spPr>
          <a:xfrm>
            <a:off x="214859" y="2601392"/>
            <a:ext cx="5636304" cy="2840701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3635627E-9ABB-0A44-A680-4B9CFE0B72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70" t="7790" r="5500"/>
          <a:stretch/>
        </p:blipFill>
        <p:spPr>
          <a:xfrm>
            <a:off x="5989451" y="2682368"/>
            <a:ext cx="5987692" cy="2759725"/>
          </a:xfrm>
          <a:prstGeom prst="rect">
            <a:avLst/>
          </a:prstGeom>
        </p:spPr>
      </p:pic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A03FB8BA-12D3-004B-A897-C79EB3FE0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z="2000" smtClean="0"/>
              <a:pPr/>
              <a:t>17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02283765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668</Words>
  <Application>Microsoft Macintosh PowerPoint</Application>
  <PresentationFormat>Širokouhlá</PresentationFormat>
  <Paragraphs>137</Paragraphs>
  <Slides>17</Slides>
  <Notes>6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Motív Office</vt:lpstr>
      <vt:lpstr>Softvérová aplikácia na analýzu korelácie medzi spánkom a pohybom</vt:lpstr>
      <vt:lpstr>Ciele práce</vt:lpstr>
      <vt:lpstr>Význam spánku a fyzickej aktivity (1)</vt:lpstr>
      <vt:lpstr>Vstupné dáta</vt:lpstr>
      <vt:lpstr>Predspracovanie vstupných dát</vt:lpstr>
      <vt:lpstr>Tvorba rozhodovacích stromov</vt:lpstr>
      <vt:lpstr>Asociačné pravidlá</vt:lpstr>
      <vt:lpstr>Implementácia aplikácie</vt:lpstr>
      <vt:lpstr>Dotazníková časť</vt:lpstr>
      <vt:lpstr>Sumarizačná časť</vt:lpstr>
      <vt:lpstr>Odporúčacia časť</vt:lpstr>
      <vt:lpstr>Rozhodovacie stromy</vt:lpstr>
      <vt:lpstr>Model predikujúci dĺžku spánku</vt:lpstr>
      <vt:lpstr>Model predikujúci mierne náročnú fyzickú aktivitu</vt:lpstr>
      <vt:lpstr>Modely pre nenáročnú a náročnú fyzickú aktivitu</vt:lpstr>
      <vt:lpstr>Asociačné pravidlá (1)</vt:lpstr>
      <vt:lpstr>Asociačné pravidlá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Softvérová aplikácia na analýzu korelácie medzi spánkom a pohybom</dc:title>
  <dc:creator>STUD - Daniel Lieskovský</dc:creator>
  <cp:lastModifiedBy>STUD - Daniel Lieskovský</cp:lastModifiedBy>
  <cp:revision>1</cp:revision>
  <dcterms:created xsi:type="dcterms:W3CDTF">2026-05-22T06:39:38Z</dcterms:created>
  <dcterms:modified xsi:type="dcterms:W3CDTF">2026-05-22T07:07:48Z</dcterms:modified>
</cp:coreProperties>
</file>